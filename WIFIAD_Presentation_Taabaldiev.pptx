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sp>
        <p:nvSpPr>
          <p:cNvPr id="2" name="Text 0"/>
          <p:cNvSpPr/>
          <p:nvPr/>
        </p:nvSpPr>
        <p:spPr>
          <a:xfrm>
            <a:off x="822960" y="1828800"/>
            <a:ext cx="1051560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Unsupervised Human Presence Detection</a:t>
            </a:r>
            <a:endParaRPr lang="en-US" sz="4000" dirty="0"/>
          </a:p>
        </p:txBody>
      </p:sp>
      <p:sp>
        <p:nvSpPr>
          <p:cNvPr id="3" name="Text 1"/>
          <p:cNvSpPr/>
          <p:nvPr/>
        </p:nvSpPr>
        <p:spPr>
          <a:xfrm>
            <a:off x="822960" y="2743200"/>
            <a:ext cx="10515600" cy="731520"/>
          </a:xfrm>
          <a:prstGeom prst="rect">
            <a:avLst/>
          </a:prstGeom>
          <a:noFill/>
          <a:ln/>
        </p:spPr>
        <p:txBody>
          <a:bodyPr wrap="square" lIns="0" tIns="0" rIns="0" bIns="0" rtlCol="0" anchor="ctr"/>
          <a:lstStyle/>
          <a:p>
            <a:pPr algn="l" indent="0" marL="0">
              <a:buNone/>
            </a:pPr>
            <a:r>
              <a:rPr lang="en-US" sz="3000" dirty="0">
                <a:solidFill>
                  <a:srgbClr val="CADCFC"/>
                </a:solidFill>
                <a:latin typeface="Cambria" pitchFamily="34" charset="0"/>
                <a:ea typeface="Cambria" pitchFamily="34" charset="-122"/>
                <a:cs typeface="Cambria" pitchFamily="34" charset="-120"/>
              </a:rPr>
              <a:t>from Indoor Sensor Signals</a:t>
            </a:r>
            <a:endParaRPr lang="en-US" sz="3000" dirty="0"/>
          </a:p>
        </p:txBody>
      </p:sp>
      <p:sp>
        <p:nvSpPr>
          <p:cNvPr id="4" name="Text 2"/>
          <p:cNvSpPr/>
          <p:nvPr/>
        </p:nvSpPr>
        <p:spPr>
          <a:xfrm>
            <a:off x="822960" y="3611880"/>
            <a:ext cx="10515600" cy="457200"/>
          </a:xfrm>
          <a:prstGeom prst="rect">
            <a:avLst/>
          </a:prstGeom>
          <a:noFill/>
          <a:ln/>
        </p:spPr>
        <p:txBody>
          <a:bodyPr wrap="square" lIns="0" tIns="0" rIns="0" bIns="0" rtlCol="0" anchor="ctr"/>
          <a:lstStyle/>
          <a:p>
            <a:pPr algn="l" indent="0" marL="0">
              <a:buNone/>
            </a:pPr>
            <a:r>
              <a:rPr lang="en-US" sz="1600" i="1" dirty="0">
                <a:solidFill>
                  <a:srgbClr val="AAB4CC"/>
                </a:solidFill>
                <a:latin typeface="Calibri" pitchFamily="34" charset="0"/>
                <a:ea typeface="Calibri" pitchFamily="34" charset="-122"/>
                <a:cs typeface="Calibri" pitchFamily="34" charset="-120"/>
              </a:rPr>
              <a:t>A comparison of Isolation Forest, MLP Autoencoder, and CNN Autoencoder</a:t>
            </a:r>
            <a:endParaRPr lang="en-US" sz="1600" dirty="0"/>
          </a:p>
        </p:txBody>
      </p:sp>
      <p:sp>
        <p:nvSpPr>
          <p:cNvPr id="5" name="Text 3"/>
          <p:cNvSpPr/>
          <p:nvPr/>
        </p:nvSpPr>
        <p:spPr>
          <a:xfrm>
            <a:off x="822960" y="5120640"/>
            <a:ext cx="10515600" cy="822960"/>
          </a:xfrm>
          <a:prstGeom prst="rect">
            <a:avLst/>
          </a:prstGeom>
          <a:noFill/>
          <a:ln/>
        </p:spPr>
        <p:txBody>
          <a:bodyPr wrap="square" lIns="0" tIns="0" rIns="0" bIns="0" rtlCol="0" anchor="ctr"/>
          <a:lstStyle/>
          <a:p>
            <a:pPr algn="l" indent="0" marL="0">
              <a:buNone/>
            </a:pPr>
            <a:r>
              <a:rPr lang="en-US" sz="1500" b="1" dirty="0">
                <a:solidFill>
                  <a:srgbClr val="CADCFC"/>
                </a:solidFill>
                <a:latin typeface="Calibri" pitchFamily="34" charset="0"/>
                <a:ea typeface="Calibri" pitchFamily="34" charset="-122"/>
                <a:cs typeface="Calibri" pitchFamily="34" charset="-120"/>
              </a:rPr>
              <a:t>Nur Bakhavadinovich Taabaldiev</a:t>
            </a:r>
            <a:endParaRPr lang="en-US" sz="1500" dirty="0"/>
          </a:p>
          <a:p>
            <a:pPr algn="l" indent="0" marL="0">
              <a:buNone/>
            </a:pPr>
            <a:r>
              <a:rPr lang="en-US" sz="1500" dirty="0">
                <a:solidFill>
                  <a:srgbClr val="CADCFC"/>
                </a:solidFill>
                <a:latin typeface="Calibri" pitchFamily="34" charset="0"/>
                <a:ea typeface="Calibri" pitchFamily="34" charset="-122"/>
                <a:cs typeface="Calibri" pitchFamily="34" charset="-120"/>
              </a:rPr>
              <a:t>AI Lab Project  |  Sapienza University of Rome  |  Prof. D. Avola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rgbClr val="1F2A44"/>
                </a:solidFill>
                <a:latin typeface="Cambria" pitchFamily="34" charset="0"/>
                <a:ea typeface="Cambria" pitchFamily="34" charset="-122"/>
                <a:cs typeface="Cambria" pitchFamily="34" charset="-120"/>
              </a:rPr>
              <a:t>The problem</a:t>
            </a:r>
            <a:endParaRPr lang="en-US" sz="3000" dirty="0"/>
          </a:p>
        </p:txBody>
      </p:sp>
      <p:sp>
        <p:nvSpPr>
          <p:cNvPr id="3" name="Text 1"/>
          <p:cNvSpPr/>
          <p:nvPr/>
        </p:nvSpPr>
        <p:spPr>
          <a:xfrm>
            <a:off x="640080" y="1371600"/>
            <a:ext cx="10881360" cy="2743200"/>
          </a:xfrm>
          <a:prstGeom prst="rect">
            <a:avLst/>
          </a:prstGeom>
          <a:noFill/>
          <a:ln/>
        </p:spPr>
        <p:txBody>
          <a:bodyPr wrap="square" rtlCol="0" anchor="ctr"/>
          <a:lstStyle/>
          <a:p>
            <a:pPr algn="l"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Knowing if a room is occupied is useful for energy saving, security, and smart buildings.</a:t>
            </a:r>
            <a:endParaRPr lang="en-US" sz="1900" dirty="0"/>
          </a:p>
          <a:p>
            <a:pPr algn="l"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Many of these cases cannot use cameras, for privacy or cost reasons.</a:t>
            </a:r>
            <a:endParaRPr lang="en-US" sz="1900" dirty="0"/>
          </a:p>
          <a:p>
            <a:pPr algn="l" marL="342900" indent="-342900">
              <a:spcAft>
                <a:spcPts val="1000"/>
              </a:spcAft>
              <a:buSzPct val="100000"/>
              <a:buChar char="•"/>
            </a:pPr>
            <a:r>
              <a:rPr lang="en-US" sz="1900" dirty="0">
                <a:solidFill>
                  <a:srgbClr val="222222"/>
                </a:solidFill>
                <a:latin typeface="Calibri" pitchFamily="34" charset="0"/>
                <a:ea typeface="Calibri" pitchFamily="34" charset="-122"/>
                <a:cs typeface="Calibri" pitchFamily="34" charset="-120"/>
              </a:rPr>
              <a:t>The usual solution is supervised learning, but it needs labeled occupied and empty data, which is expensive to collect.</a:t>
            </a:r>
            <a:endParaRPr lang="en-US" sz="1900" dirty="0"/>
          </a:p>
          <a:p>
            <a:pPr algn="l" marL="342900" indent="-342900">
              <a:buSzPct val="100000"/>
              <a:buChar char="•"/>
            </a:pPr>
            <a:r>
              <a:rPr lang="en-US" sz="1900" dirty="0">
                <a:solidFill>
                  <a:srgbClr val="222222"/>
                </a:solidFill>
                <a:latin typeface="Calibri" pitchFamily="34" charset="0"/>
                <a:ea typeface="Calibri" pitchFamily="34" charset="-122"/>
                <a:cs typeface="Calibri" pitchFamily="34" charset="-120"/>
              </a:rPr>
              <a:t>My idea: treat presence as an anomaly. An empty room is easy to record. Train only on empty data, then flag anything that does not look empty.</a:t>
            </a:r>
            <a:endParaRPr lang="en-US" sz="1900" dirty="0"/>
          </a:p>
        </p:txBody>
      </p:sp>
      <p:sp>
        <p:nvSpPr>
          <p:cNvPr id="4" name="Text 2"/>
          <p:cNvSpPr/>
          <p:nvPr/>
        </p:nvSpPr>
        <p:spPr>
          <a:xfrm>
            <a:off x="640080" y="4572000"/>
            <a:ext cx="10881360" cy="1463040"/>
          </a:xfrm>
          <a:prstGeom prst="rect">
            <a:avLst/>
          </a:prstGeom>
          <a:solidFill>
            <a:srgbClr val="F4F5F7"/>
          </a:solidFill>
          <a:ln/>
        </p:spPr>
        <p:txBody>
          <a:bodyPr wrap="square" lIns="177800" tIns="177800" rIns="177800" bIns="177800" rtlCol="0" anchor="ctr"/>
          <a:lstStyle/>
          <a:p>
            <a:pPr algn="l" indent="0" marL="0">
              <a:buNone/>
            </a:pPr>
            <a:r>
              <a:rPr lang="en-US" sz="1800" b="1" i="1" dirty="0">
                <a:solidFill>
                  <a:srgbClr val="C0392B"/>
                </a:solidFill>
                <a:latin typeface="Calibri" pitchFamily="34" charset="0"/>
                <a:ea typeface="Calibri" pitchFamily="34" charset="-122"/>
                <a:cs typeface="Calibri" pitchFamily="34" charset="-120"/>
              </a:rPr>
              <a:t>Research question</a:t>
            </a:r>
            <a:endParaRPr lang="en-US" sz="1800" dirty="0"/>
          </a:p>
          <a:p>
            <a:pPr algn="l" indent="0" marL="0">
              <a:buNone/>
            </a:pPr>
            <a:r>
              <a:rPr lang="en-US" sz="1800" i="1" dirty="0">
                <a:solidFill>
                  <a:srgbClr val="1F2A44"/>
                </a:solidFill>
                <a:latin typeface="Calibri" pitchFamily="34" charset="0"/>
                <a:ea typeface="Calibri" pitchFamily="34" charset="-122"/>
                <a:cs typeface="Calibri" pitchFamily="34" charset="-120"/>
              </a:rPr>
              <a:t>Can an unsupervised model learn what an empty room looks like well enough to detect human presence, and does reading the time order of the signal help?</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rgbClr val="1F2A44"/>
                </a:solidFill>
                <a:latin typeface="Cambria" pitchFamily="34" charset="0"/>
                <a:ea typeface="Cambria" pitchFamily="34" charset="-122"/>
                <a:cs typeface="Cambria" pitchFamily="34" charset="-120"/>
              </a:rPr>
              <a:t>The data</a:t>
            </a:r>
            <a:endParaRPr lang="en-US" sz="3000" dirty="0"/>
          </a:p>
        </p:txBody>
      </p:sp>
      <p:sp>
        <p:nvSpPr>
          <p:cNvPr id="3" name="Text 1"/>
          <p:cNvSpPr/>
          <p:nvPr/>
        </p:nvSpPr>
        <p:spPr>
          <a:xfrm>
            <a:off x="640080" y="1371600"/>
            <a:ext cx="4572000" cy="3200400"/>
          </a:xfrm>
          <a:prstGeom prst="rect">
            <a:avLst/>
          </a:prstGeom>
          <a:noFill/>
          <a:ln/>
        </p:spPr>
        <p:txBody>
          <a:bodyPr wrap="square" rtlCol="0" anchor="ctr"/>
          <a:lstStyle/>
          <a:p>
            <a:pPr algn="l" indent="0" marL="0">
              <a:spcAft>
                <a:spcPts val="800"/>
              </a:spcAft>
              <a:buNone/>
            </a:pPr>
            <a:r>
              <a:rPr lang="en-US" sz="1700" b="1" dirty="0">
                <a:solidFill>
                  <a:srgbClr val="222222"/>
                </a:solidFill>
                <a:latin typeface="Calibri" pitchFamily="34" charset="0"/>
                <a:ea typeface="Calibri" pitchFamily="34" charset="-122"/>
                <a:cs typeface="Calibri" pitchFamily="34" charset="-120"/>
              </a:rPr>
              <a:t>UCI Occupancy Detection dataset</a:t>
            </a:r>
            <a:endParaRPr lang="en-US" sz="1700" dirty="0"/>
          </a:p>
          <a:p>
            <a:pPr algn="l" marL="342900" indent="-342900">
              <a:spcAft>
                <a:spcPts val="600"/>
              </a:spcAft>
              <a:buSzPct val="100000"/>
              <a:buChar char="•"/>
            </a:pPr>
            <a:r>
              <a:rPr lang="en-US" sz="1700" dirty="0">
                <a:solidFill>
                  <a:srgbClr val="222222"/>
                </a:solidFill>
                <a:latin typeface="Calibri" pitchFamily="34" charset="0"/>
                <a:ea typeface="Calibri" pitchFamily="34" charset="-122"/>
                <a:cs typeface="Calibri" pitchFamily="34" charset="-120"/>
              </a:rPr>
              <a:t>Office room, one reading per minute, about 16 days.</a:t>
            </a:r>
            <a:endParaRPr lang="en-US" sz="1700" dirty="0"/>
          </a:p>
          <a:p>
            <a:pPr algn="l" marL="342900" indent="-342900">
              <a:spcAft>
                <a:spcPts val="600"/>
              </a:spcAft>
              <a:buSzPct val="100000"/>
              <a:buChar char="•"/>
            </a:pPr>
            <a:r>
              <a:rPr lang="en-US" sz="1700" dirty="0">
                <a:solidFill>
                  <a:srgbClr val="222222"/>
                </a:solidFill>
                <a:latin typeface="Calibri" pitchFamily="34" charset="0"/>
                <a:ea typeface="Calibri" pitchFamily="34" charset="-122"/>
                <a:cs typeface="Calibri" pitchFamily="34" charset="-120"/>
              </a:rPr>
              <a:t>20,560 records after cleaning. 77% empty, 23% occupied.</a:t>
            </a:r>
            <a:endParaRPr lang="en-US" sz="1700" dirty="0"/>
          </a:p>
          <a:p>
            <a:pPr algn="l" marL="342900" indent="-342900">
              <a:spcAft>
                <a:spcPts val="600"/>
              </a:spcAft>
              <a:buSzPct val="100000"/>
              <a:buChar char="•"/>
            </a:pPr>
            <a:r>
              <a:rPr lang="en-US" sz="1700" dirty="0">
                <a:solidFill>
                  <a:srgbClr val="222222"/>
                </a:solidFill>
                <a:latin typeface="Calibri" pitchFamily="34" charset="0"/>
                <a:ea typeface="Calibri" pitchFamily="34" charset="-122"/>
                <a:cs typeface="Calibri" pitchFamily="34" charset="-120"/>
              </a:rPr>
              <a:t>Two stray header rows were mixed inside the data and removed.</a:t>
            </a:r>
            <a:endParaRPr lang="en-US" sz="1700" dirty="0"/>
          </a:p>
          <a:p>
            <a:pPr algn="l" marL="342900" indent="-342900">
              <a:buSzPct val="100000"/>
              <a:buChar char="•"/>
            </a:pPr>
            <a:r>
              <a:rPr lang="en-US" sz="1700" dirty="0">
                <a:solidFill>
                  <a:srgbClr val="222222"/>
                </a:solidFill>
                <a:latin typeface="Calibri" pitchFamily="34" charset="0"/>
                <a:ea typeface="Calibri" pitchFamily="34" charset="-122"/>
                <a:cs typeface="Calibri" pitchFamily="34" charset="-120"/>
              </a:rPr>
              <a:t>I use only Light and CO2, the two signals that react most to presence.</a:t>
            </a:r>
            <a:endParaRPr lang="en-US" sz="1700" dirty="0"/>
          </a:p>
        </p:txBody>
      </p:sp>
      <p:pic>
        <p:nvPicPr>
          <p:cNvPr id="4" name="Image 0" descr="figs/signals.png">    </p:cNvPr>
          <p:cNvPicPr>
            <a:picLocks noChangeAspect="1"/>
          </p:cNvPicPr>
          <p:nvPr/>
        </p:nvPicPr>
        <p:blipFill>
          <a:blip r:embed="rId1"/>
          <a:stretch>
            <a:fillRect/>
          </a:stretch>
        </p:blipFill>
        <p:spPr>
          <a:xfrm>
            <a:off x="5533949" y="1234440"/>
            <a:ext cx="5939942" cy="5120640"/>
          </a:xfrm>
          <a:prstGeom prst="rect">
            <a:avLst/>
          </a:prstGeom>
        </p:spPr>
      </p:pic>
      <p:sp>
        <p:nvSpPr>
          <p:cNvPr id="5" name="Text 2"/>
          <p:cNvSpPr/>
          <p:nvPr/>
        </p:nvSpPr>
        <p:spPr>
          <a:xfrm>
            <a:off x="5394960" y="6355080"/>
            <a:ext cx="6217920" cy="36576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Red shading = occupied. Light and CO2 clearly jump during presence.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rgbClr val="1F2A44"/>
                </a:solidFill>
                <a:latin typeface="Cambria" pitchFamily="34" charset="0"/>
                <a:ea typeface="Cambria" pitchFamily="34" charset="-122"/>
                <a:cs typeface="Cambria" pitchFamily="34" charset="-120"/>
              </a:rPr>
              <a:t>Setup</a:t>
            </a:r>
            <a:endParaRPr lang="en-US" sz="3000" dirty="0"/>
          </a:p>
        </p:txBody>
      </p:sp>
      <p:sp>
        <p:nvSpPr>
          <p:cNvPr id="3" name="Text 1"/>
          <p:cNvSpPr/>
          <p:nvPr/>
        </p:nvSpPr>
        <p:spPr>
          <a:xfrm>
            <a:off x="640080" y="1371600"/>
            <a:ext cx="10881360" cy="4937760"/>
          </a:xfrm>
          <a:prstGeom prst="rect">
            <a:avLst/>
          </a:prstGeom>
          <a:noFill/>
          <a:ln/>
        </p:spPr>
        <p:txBody>
          <a:bodyPr wrap="square" rtlCol="0" anchor="ctr"/>
          <a:lstStyle/>
          <a:p>
            <a:pPr algn="l" indent="0" marL="0">
              <a:buNone/>
            </a:pPr>
            <a:r>
              <a:rPr lang="en-US" sz="1700" b="1" dirty="0">
                <a:solidFill>
                  <a:srgbClr val="C0392B"/>
                </a:solidFill>
                <a:latin typeface="Calibri" pitchFamily="34" charset="0"/>
                <a:ea typeface="Calibri" pitchFamily="34" charset="-122"/>
                <a:cs typeface="Calibri" pitchFamily="34" charset="-120"/>
              </a:rPr>
              <a:t>Windowing</a:t>
            </a:r>
            <a:endParaRPr lang="en-US" sz="1700" dirty="0"/>
          </a:p>
          <a:p>
            <a:pPr algn="l" indent="0" marL="0">
              <a:spcAft>
                <a:spcPts val="1200"/>
              </a:spcAft>
              <a:buNone/>
            </a:pPr>
            <a:r>
              <a:rPr lang="en-US" sz="1700" dirty="0">
                <a:solidFill>
                  <a:srgbClr val="222222"/>
                </a:solidFill>
                <a:latin typeface="Calibri" pitchFamily="34" charset="0"/>
                <a:ea typeface="Calibri" pitchFamily="34" charset="-122"/>
                <a:cs typeface="Calibri" pitchFamily="34" charset="-120"/>
              </a:rPr>
              <a:t>Cut the signal into 30-minute windows of shape (30 x 2), stride 5. A window is occupied if anyone was present during any minute of it.</a:t>
            </a:r>
            <a:endParaRPr lang="en-US" sz="1700" dirty="0"/>
          </a:p>
          <a:p>
            <a:pPr algn="l" indent="0" marL="0">
              <a:buNone/>
            </a:pPr>
            <a:r>
              <a:rPr lang="en-US" sz="1700" b="1" dirty="0">
                <a:solidFill>
                  <a:srgbClr val="C0392B"/>
                </a:solidFill>
                <a:latin typeface="Calibri" pitchFamily="34" charset="0"/>
                <a:ea typeface="Calibri" pitchFamily="34" charset="-122"/>
                <a:cs typeface="Calibri" pitchFamily="34" charset="-120"/>
              </a:rPr>
              <a:t>Split by time, not random</a:t>
            </a:r>
            <a:endParaRPr lang="en-US" sz="1700" dirty="0"/>
          </a:p>
          <a:p>
            <a:pPr algn="l" indent="0" marL="0">
              <a:spcAft>
                <a:spcPts val="1200"/>
              </a:spcAft>
              <a:buNone/>
            </a:pPr>
            <a:r>
              <a:rPr lang="en-US" sz="1700" dirty="0">
                <a:solidFill>
                  <a:srgbClr val="222222"/>
                </a:solidFill>
                <a:latin typeface="Calibri" pitchFamily="34" charset="0"/>
                <a:ea typeface="Calibri" pitchFamily="34" charset="-122"/>
                <a:cs typeface="Calibri" pitchFamily="34" charset="-120"/>
              </a:rPr>
              <a:t>Windows overlap, so a random split would leak data. First 70% of empty windows for training, next 15% validation, last 15% test. All occupied windows go to test.</a:t>
            </a:r>
            <a:endParaRPr lang="en-US" sz="1700" dirty="0"/>
          </a:p>
          <a:p>
            <a:pPr algn="l" indent="0" marL="0">
              <a:buNone/>
            </a:pPr>
            <a:r>
              <a:rPr lang="en-US" sz="1700" b="1" dirty="0">
                <a:solidFill>
                  <a:srgbClr val="C0392B"/>
                </a:solidFill>
                <a:latin typeface="Calibri" pitchFamily="34" charset="0"/>
                <a:ea typeface="Calibri" pitchFamily="34" charset="-122"/>
                <a:cs typeface="Calibri" pitchFamily="34" charset="-120"/>
              </a:rPr>
              <a:t>Normalize from train only</a:t>
            </a:r>
            <a:endParaRPr lang="en-US" sz="1700" dirty="0"/>
          </a:p>
          <a:p>
            <a:pPr algn="l" indent="0" marL="0">
              <a:spcAft>
                <a:spcPts val="1200"/>
              </a:spcAft>
              <a:buNone/>
            </a:pPr>
            <a:r>
              <a:rPr lang="en-US" sz="1700" dirty="0">
                <a:solidFill>
                  <a:srgbClr val="222222"/>
                </a:solidFill>
                <a:latin typeface="Calibri" pitchFamily="34" charset="0"/>
                <a:ea typeface="Calibri" pitchFamily="34" charset="-122"/>
                <a:cs typeface="Calibri" pitchFamily="34" charset="-120"/>
              </a:rPr>
              <a:t>Z-score using mean and std from the training set only, so no test information leaks in.</a:t>
            </a:r>
            <a:endParaRPr lang="en-US" sz="1700" dirty="0"/>
          </a:p>
          <a:p>
            <a:pPr algn="l" indent="0" marL="0">
              <a:buNone/>
            </a:pPr>
            <a:r>
              <a:rPr lang="en-US" sz="1700" b="1" dirty="0">
                <a:solidFill>
                  <a:srgbClr val="C0392B"/>
                </a:solidFill>
                <a:latin typeface="Calibri" pitchFamily="34" charset="0"/>
                <a:ea typeface="Calibri" pitchFamily="34" charset="-122"/>
                <a:cs typeface="Calibri" pitchFamily="34" charset="-120"/>
              </a:rPr>
              <a:t>Threshold</a:t>
            </a:r>
            <a:endParaRPr lang="en-US" sz="1700" dirty="0"/>
          </a:p>
          <a:p>
            <a:pPr algn="l" indent="0" marL="0">
              <a:buNone/>
            </a:pPr>
            <a:r>
              <a:rPr lang="en-US" sz="1700" dirty="0">
                <a:solidFill>
                  <a:srgbClr val="222222"/>
                </a:solidFill>
                <a:latin typeface="Calibri" pitchFamily="34" charset="0"/>
                <a:ea typeface="Calibri" pitchFamily="34" charset="-122"/>
                <a:cs typeface="Calibri" pitchFamily="34" charset="-120"/>
              </a:rPr>
              <a:t>Same rule for every model: 95th percentile of validation scores. This keeps the comparison fair.</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rgbClr val="1F2A44"/>
                </a:solidFill>
                <a:latin typeface="Cambria" pitchFamily="34" charset="0"/>
                <a:ea typeface="Cambria" pitchFamily="34" charset="-122"/>
                <a:cs typeface="Cambria" pitchFamily="34" charset="-120"/>
              </a:rPr>
              <a:t>The three models</a:t>
            </a:r>
            <a:endParaRPr lang="en-US" sz="3000" dirty="0"/>
          </a:p>
        </p:txBody>
      </p:sp>
      <p:sp>
        <p:nvSpPr>
          <p:cNvPr id="3" name="Shape 1"/>
          <p:cNvSpPr/>
          <p:nvPr/>
        </p:nvSpPr>
        <p:spPr>
          <a:xfrm>
            <a:off x="640080" y="1554480"/>
            <a:ext cx="3520440" cy="3840480"/>
          </a:xfrm>
          <a:prstGeom prst="roundRect">
            <a:avLst>
              <a:gd name="adj" fmla="val 2078"/>
            </a:avLst>
          </a:prstGeom>
          <a:solidFill>
            <a:srgbClr val="F4F5F7"/>
          </a:solidFill>
          <a:ln/>
          <a:effectLst>
            <a:outerShdw sx="100000" sy="100000" kx="0" ky="0" algn="bl" rotWithShape="0" blurRad="76200" dist="25400" dir="5400000">
              <a:srgbClr val="000000">
                <a:alpha val="10000"/>
              </a:srgbClr>
            </a:outerShdw>
          </a:effectLst>
        </p:spPr>
      </p:sp>
      <p:sp>
        <p:nvSpPr>
          <p:cNvPr id="4" name="Text 2"/>
          <p:cNvSpPr/>
          <p:nvPr/>
        </p:nvSpPr>
        <p:spPr>
          <a:xfrm>
            <a:off x="914400" y="1828800"/>
            <a:ext cx="2971800" cy="914400"/>
          </a:xfrm>
          <a:prstGeom prst="rect">
            <a:avLst/>
          </a:prstGeom>
          <a:noFill/>
          <a:ln/>
        </p:spPr>
        <p:txBody>
          <a:bodyPr wrap="square" lIns="0" tIns="0" rIns="0" bIns="0" rtlCol="0" anchor="ctr"/>
          <a:lstStyle/>
          <a:p>
            <a:pPr algn="l" indent="0" marL="0">
              <a:buNone/>
            </a:pPr>
            <a:r>
              <a:rPr lang="en-US" sz="1900" b="1" dirty="0">
                <a:solidFill>
                  <a:srgbClr val="1F2A44"/>
                </a:solidFill>
                <a:latin typeface="Calibri" pitchFamily="34" charset="0"/>
                <a:ea typeface="Calibri" pitchFamily="34" charset="-122"/>
                <a:cs typeface="Calibri" pitchFamily="34" charset="-120"/>
              </a:rPr>
              <a:t>1.  Isolation Forest</a:t>
            </a:r>
            <a:endParaRPr lang="en-US" sz="1900" dirty="0"/>
          </a:p>
          <a:p>
            <a:pPr algn="l" indent="0" marL="0">
              <a:buNone/>
            </a:pPr>
            <a:r>
              <a:rPr lang="en-US" sz="1300" i="1" dirty="0">
                <a:solidFill>
                  <a:srgbClr val="C0392B"/>
                </a:solidFill>
                <a:latin typeface="Calibri" pitchFamily="34" charset="0"/>
                <a:ea typeface="Calibri" pitchFamily="34" charset="-122"/>
                <a:cs typeface="Calibri" pitchFamily="34" charset="-120"/>
              </a:rPr>
              <a:t>classical baseline</a:t>
            </a:r>
            <a:endParaRPr lang="en-US" sz="1900" dirty="0"/>
          </a:p>
        </p:txBody>
      </p:sp>
      <p:sp>
        <p:nvSpPr>
          <p:cNvPr id="5" name="Text 3"/>
          <p:cNvSpPr/>
          <p:nvPr/>
        </p:nvSpPr>
        <p:spPr>
          <a:xfrm>
            <a:off x="914400" y="2926080"/>
            <a:ext cx="2971800" cy="2286000"/>
          </a:xfrm>
          <a:prstGeom prst="rect">
            <a:avLst/>
          </a:prstGeom>
          <a:noFill/>
          <a:ln/>
        </p:spPr>
        <p:txBody>
          <a:bodyPr wrap="square" lIns="0" tIns="0" rIns="0" bIns="0" rtlCol="0" anchor="t"/>
          <a:lstStyle/>
          <a:p>
            <a:pPr algn="l" indent="0" marL="0">
              <a:buNone/>
            </a:pPr>
            <a:r>
              <a:rPr lang="en-US" sz="1500" dirty="0">
                <a:solidFill>
                  <a:srgbClr val="222222"/>
                </a:solidFill>
                <a:latin typeface="Calibri" pitchFamily="34" charset="0"/>
                <a:ea typeface="Calibri" pitchFamily="34" charset="-122"/>
                <a:cs typeface="Calibri" pitchFamily="34" charset="-120"/>
              </a:rPr>
              <a:t>Uses 10 summary features per window (mean, std, min, max, range of each signal). Isolates unusual points with few random cuts. No time order.</a:t>
            </a:r>
            <a:endParaRPr lang="en-US" sz="1500" dirty="0"/>
          </a:p>
        </p:txBody>
      </p:sp>
      <p:sp>
        <p:nvSpPr>
          <p:cNvPr id="6" name="Shape 4"/>
          <p:cNvSpPr/>
          <p:nvPr/>
        </p:nvSpPr>
        <p:spPr>
          <a:xfrm>
            <a:off x="4480560" y="1554480"/>
            <a:ext cx="3520440" cy="3840480"/>
          </a:xfrm>
          <a:prstGeom prst="roundRect">
            <a:avLst>
              <a:gd name="adj" fmla="val 2078"/>
            </a:avLst>
          </a:prstGeom>
          <a:solidFill>
            <a:srgbClr val="F4F5F7"/>
          </a:solidFill>
          <a:ln/>
          <a:effectLst>
            <a:outerShdw sx="100000" sy="100000" kx="0" ky="0" algn="bl" rotWithShape="0" blurRad="76200" dist="25400" dir="5400000">
              <a:srgbClr val="000000">
                <a:alpha val="10000"/>
              </a:srgbClr>
            </a:outerShdw>
          </a:effectLst>
        </p:spPr>
      </p:sp>
      <p:sp>
        <p:nvSpPr>
          <p:cNvPr id="7" name="Text 5"/>
          <p:cNvSpPr/>
          <p:nvPr/>
        </p:nvSpPr>
        <p:spPr>
          <a:xfrm>
            <a:off x="4754880" y="1828800"/>
            <a:ext cx="2971800" cy="914400"/>
          </a:xfrm>
          <a:prstGeom prst="rect">
            <a:avLst/>
          </a:prstGeom>
          <a:noFill/>
          <a:ln/>
        </p:spPr>
        <p:txBody>
          <a:bodyPr wrap="square" lIns="0" tIns="0" rIns="0" bIns="0" rtlCol="0" anchor="ctr"/>
          <a:lstStyle/>
          <a:p>
            <a:pPr algn="l" indent="0" marL="0">
              <a:buNone/>
            </a:pPr>
            <a:r>
              <a:rPr lang="en-US" sz="1900" b="1" dirty="0">
                <a:solidFill>
                  <a:srgbClr val="1F2A44"/>
                </a:solidFill>
                <a:latin typeface="Calibri" pitchFamily="34" charset="0"/>
                <a:ea typeface="Calibri" pitchFamily="34" charset="-122"/>
                <a:cs typeface="Calibri" pitchFamily="34" charset="-120"/>
              </a:rPr>
              <a:t>2.  MLP Autoencoder</a:t>
            </a:r>
            <a:endParaRPr lang="en-US" sz="1900" dirty="0"/>
          </a:p>
          <a:p>
            <a:pPr algn="l" indent="0" marL="0">
              <a:buNone/>
            </a:pPr>
            <a:r>
              <a:rPr lang="en-US" sz="1300" i="1" dirty="0">
                <a:solidFill>
                  <a:srgbClr val="C0392B"/>
                </a:solidFill>
                <a:latin typeface="Calibri" pitchFamily="34" charset="0"/>
                <a:ea typeface="Calibri" pitchFamily="34" charset="-122"/>
                <a:cs typeface="Calibri" pitchFamily="34" charset="-120"/>
              </a:rPr>
              <a:t>feedforward network</a:t>
            </a:r>
            <a:endParaRPr lang="en-US" sz="1900" dirty="0"/>
          </a:p>
        </p:txBody>
      </p:sp>
      <p:sp>
        <p:nvSpPr>
          <p:cNvPr id="8" name="Text 6"/>
          <p:cNvSpPr/>
          <p:nvPr/>
        </p:nvSpPr>
        <p:spPr>
          <a:xfrm>
            <a:off x="4754880" y="2926080"/>
            <a:ext cx="2971800" cy="2286000"/>
          </a:xfrm>
          <a:prstGeom prst="rect">
            <a:avLst/>
          </a:prstGeom>
          <a:noFill/>
          <a:ln/>
        </p:spPr>
        <p:txBody>
          <a:bodyPr wrap="square" lIns="0" tIns="0" rIns="0" bIns="0" rtlCol="0" anchor="t"/>
          <a:lstStyle/>
          <a:p>
            <a:pPr algn="l" indent="0" marL="0">
              <a:buNone/>
            </a:pPr>
            <a:r>
              <a:rPr lang="en-US" sz="1500" dirty="0">
                <a:solidFill>
                  <a:srgbClr val="222222"/>
                </a:solidFill>
                <a:latin typeface="Calibri" pitchFamily="34" charset="0"/>
                <a:ea typeface="Calibri" pitchFamily="34" charset="-122"/>
                <a:cs typeface="Calibri" pitchFamily="34" charset="-120"/>
              </a:rPr>
              <a:t>Flattens the window to 60 values. Learns to rebuild empty windows. High reconstruction error = anomaly. Time order is lost in the flatten.</a:t>
            </a:r>
            <a:endParaRPr lang="en-US" sz="1500" dirty="0"/>
          </a:p>
        </p:txBody>
      </p:sp>
      <p:sp>
        <p:nvSpPr>
          <p:cNvPr id="9" name="Shape 7"/>
          <p:cNvSpPr/>
          <p:nvPr/>
        </p:nvSpPr>
        <p:spPr>
          <a:xfrm>
            <a:off x="8321040" y="1554480"/>
            <a:ext cx="3520440" cy="3840480"/>
          </a:xfrm>
          <a:prstGeom prst="roundRect">
            <a:avLst>
              <a:gd name="adj" fmla="val 2078"/>
            </a:avLst>
          </a:prstGeom>
          <a:solidFill>
            <a:srgbClr val="F4F5F7"/>
          </a:solidFill>
          <a:ln/>
          <a:effectLst>
            <a:outerShdw sx="100000" sy="100000" kx="0" ky="0" algn="bl" rotWithShape="0" blurRad="76200" dist="25400" dir="5400000">
              <a:srgbClr val="000000">
                <a:alpha val="10000"/>
              </a:srgbClr>
            </a:outerShdw>
          </a:effectLst>
        </p:spPr>
      </p:sp>
      <p:sp>
        <p:nvSpPr>
          <p:cNvPr id="10" name="Text 8"/>
          <p:cNvSpPr/>
          <p:nvPr/>
        </p:nvSpPr>
        <p:spPr>
          <a:xfrm>
            <a:off x="8595360" y="1828800"/>
            <a:ext cx="2971800" cy="914400"/>
          </a:xfrm>
          <a:prstGeom prst="rect">
            <a:avLst/>
          </a:prstGeom>
          <a:noFill/>
          <a:ln/>
        </p:spPr>
        <p:txBody>
          <a:bodyPr wrap="square" lIns="0" tIns="0" rIns="0" bIns="0" rtlCol="0" anchor="ctr"/>
          <a:lstStyle/>
          <a:p>
            <a:pPr algn="l" indent="0" marL="0">
              <a:buNone/>
            </a:pPr>
            <a:r>
              <a:rPr lang="en-US" sz="1900" b="1" dirty="0">
                <a:solidFill>
                  <a:srgbClr val="1F2A44"/>
                </a:solidFill>
                <a:latin typeface="Calibri" pitchFamily="34" charset="0"/>
                <a:ea typeface="Calibri" pitchFamily="34" charset="-122"/>
                <a:cs typeface="Calibri" pitchFamily="34" charset="-120"/>
              </a:rPr>
              <a:t>3.  CNN Autoencoder</a:t>
            </a:r>
            <a:endParaRPr lang="en-US" sz="1900" dirty="0"/>
          </a:p>
          <a:p>
            <a:pPr algn="l" indent="0" marL="0">
              <a:buNone/>
            </a:pPr>
            <a:r>
              <a:rPr lang="en-US" sz="1300" i="1" dirty="0">
                <a:solidFill>
                  <a:srgbClr val="C0392B"/>
                </a:solidFill>
                <a:latin typeface="Calibri" pitchFamily="34" charset="0"/>
                <a:ea typeface="Calibri" pitchFamily="34" charset="-122"/>
                <a:cs typeface="Calibri" pitchFamily="34" charset="-120"/>
              </a:rPr>
              <a:t>convolutional network</a:t>
            </a:r>
            <a:endParaRPr lang="en-US" sz="1900" dirty="0"/>
          </a:p>
        </p:txBody>
      </p:sp>
      <p:sp>
        <p:nvSpPr>
          <p:cNvPr id="11" name="Text 9"/>
          <p:cNvSpPr/>
          <p:nvPr/>
        </p:nvSpPr>
        <p:spPr>
          <a:xfrm>
            <a:off x="8595360" y="2926080"/>
            <a:ext cx="2971800" cy="2286000"/>
          </a:xfrm>
          <a:prstGeom prst="rect">
            <a:avLst/>
          </a:prstGeom>
          <a:noFill/>
          <a:ln/>
        </p:spPr>
        <p:txBody>
          <a:bodyPr wrap="square" lIns="0" tIns="0" rIns="0" bIns="0" rtlCol="0" anchor="t"/>
          <a:lstStyle/>
          <a:p>
            <a:pPr algn="l" indent="0" marL="0">
              <a:buNone/>
            </a:pPr>
            <a:r>
              <a:rPr lang="en-US" sz="1500" dirty="0">
                <a:solidFill>
                  <a:srgbClr val="222222"/>
                </a:solidFill>
                <a:latin typeface="Calibri" pitchFamily="34" charset="0"/>
                <a:ea typeface="Calibri" pitchFamily="34" charset="-122"/>
                <a:cs typeface="Calibri" pitchFamily="34" charset="-120"/>
              </a:rPr>
              <a:t>Keeps the window as a sequence of 2 channels over 30 steps. Conv filters read local patterns like a sharp CO2 rise. Time order is kept.</a:t>
            </a:r>
            <a:endParaRPr lang="en-US" sz="1500" dirty="0"/>
          </a:p>
        </p:txBody>
      </p:sp>
      <p:sp>
        <p:nvSpPr>
          <p:cNvPr id="12" name="Text 10"/>
          <p:cNvSpPr/>
          <p:nvPr/>
        </p:nvSpPr>
        <p:spPr>
          <a:xfrm>
            <a:off x="640080" y="5715000"/>
            <a:ext cx="10881360" cy="548640"/>
          </a:xfrm>
          <a:prstGeom prst="rect">
            <a:avLst/>
          </a:prstGeom>
          <a:noFill/>
          <a:ln/>
        </p:spPr>
        <p:txBody>
          <a:bodyPr wrap="square" lIns="0" tIns="0" rIns="0" bIns="0" rtlCol="0" anchor="ctr"/>
          <a:lstStyle/>
          <a:p>
            <a:pPr algn="ctr" indent="0" marL="0">
              <a:buNone/>
            </a:pPr>
            <a:r>
              <a:rPr lang="en-US" sz="1600" i="1" dirty="0">
                <a:solidFill>
                  <a:srgbClr val="1F2A44"/>
                </a:solidFill>
                <a:latin typeface="Calibri" pitchFamily="34" charset="0"/>
                <a:ea typeface="Calibri" pitchFamily="34" charset="-122"/>
                <a:cs typeface="Calibri" pitchFamily="34" charset="-120"/>
              </a:rPr>
              <a:t>All three train only on empty windows. No occupied label is ever used in training.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rgbClr val="1F2A44"/>
                </a:solidFill>
                <a:latin typeface="Cambria" pitchFamily="34" charset="0"/>
                <a:ea typeface="Cambria" pitchFamily="34" charset="-122"/>
                <a:cs typeface="Cambria" pitchFamily="34" charset="-120"/>
              </a:rPr>
              <a:t>Model 1: Isolation Forest</a:t>
            </a:r>
            <a:endParaRPr lang="en-US" sz="3000" dirty="0"/>
          </a:p>
        </p:txBody>
      </p:sp>
      <p:pic>
        <p:nvPicPr>
          <p:cNvPr id="3" name="Image 0" descr="figs/iso.png">    </p:cNvPr>
          <p:cNvPicPr>
            <a:picLocks noChangeAspect="1"/>
          </p:cNvPicPr>
          <p:nvPr/>
        </p:nvPicPr>
        <p:blipFill>
          <a:blip r:embed="rId1"/>
          <a:stretch>
            <a:fillRect/>
          </a:stretch>
        </p:blipFill>
        <p:spPr>
          <a:xfrm>
            <a:off x="640080" y="2210856"/>
            <a:ext cx="6583680" cy="3259248"/>
          </a:xfrm>
          <a:prstGeom prst="rect">
            <a:avLst/>
          </a:prstGeom>
        </p:spPr>
      </p:pic>
      <p:sp>
        <p:nvSpPr>
          <p:cNvPr id="4" name="Text 1"/>
          <p:cNvSpPr/>
          <p:nvPr/>
        </p:nvSpPr>
        <p:spPr>
          <a:xfrm>
            <a:off x="640080" y="5989320"/>
            <a:ext cx="6583680" cy="36576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Empty and occupied scores separate clearly.</a:t>
            </a:r>
            <a:endParaRPr lang="en-US" sz="1200" dirty="0"/>
          </a:p>
        </p:txBody>
      </p:sp>
      <p:sp>
        <p:nvSpPr>
          <p:cNvPr id="5" name="Text 2"/>
          <p:cNvSpPr/>
          <p:nvPr/>
        </p:nvSpPr>
        <p:spPr>
          <a:xfrm>
            <a:off x="7589520" y="1828800"/>
            <a:ext cx="3931920" cy="1828800"/>
          </a:xfrm>
          <a:prstGeom prst="rect">
            <a:avLst/>
          </a:prstGeom>
          <a:solidFill>
            <a:srgbClr val="F4F5F7"/>
          </a:solidFill>
          <a:ln/>
        </p:spPr>
        <p:txBody>
          <a:bodyPr wrap="square" lIns="177800" tIns="177800" rIns="177800" bIns="177800" rtlCol="0" anchor="t"/>
          <a:lstStyle/>
          <a:p>
            <a:pPr algn="l" indent="0" marL="0">
              <a:buNone/>
            </a:pPr>
            <a:r>
              <a:rPr lang="en-US" sz="1200" i="1" dirty="0">
                <a:solidFill>
                  <a:srgbClr val="6B7280"/>
                </a:solidFill>
                <a:latin typeface="Calibri" pitchFamily="34" charset="0"/>
                <a:ea typeface="Calibri" pitchFamily="34" charset="-122"/>
                <a:cs typeface="Calibri" pitchFamily="34" charset="-120"/>
              </a:rPr>
              <a:t>output</a:t>
            </a:r>
            <a:endParaRPr lang="en-US" sz="1200" dirty="0"/>
          </a:p>
          <a:p>
            <a:pPr algn="l" indent="0" marL="0">
              <a:buNone/>
            </a:pPr>
            <a:r>
              <a:rPr lang="en-US" sz="1600" dirty="0">
                <a:solidFill>
                  <a:srgbClr val="222222"/>
                </a:solidFill>
                <a:latin typeface="Courier New" pitchFamily="34" charset="0"/>
                <a:ea typeface="Courier New" pitchFamily="34" charset="-122"/>
                <a:cs typeface="Courier New" pitchFamily="34" charset="-120"/>
              </a:rPr>
              <a:t>precision: 0.953</a:t>
            </a:r>
            <a:endParaRPr lang="en-US" sz="1200" dirty="0"/>
          </a:p>
          <a:p>
            <a:pPr algn="l" indent="0" marL="0">
              <a:buNone/>
            </a:pPr>
            <a:r>
              <a:rPr lang="en-US" sz="1600" dirty="0">
                <a:solidFill>
                  <a:srgbClr val="222222"/>
                </a:solidFill>
                <a:latin typeface="Courier New" pitchFamily="34" charset="0"/>
                <a:ea typeface="Courier New" pitchFamily="34" charset="-122"/>
                <a:cs typeface="Courier New" pitchFamily="34" charset="-120"/>
              </a:rPr>
              <a:t>recall:    0.843</a:t>
            </a:r>
            <a:endParaRPr lang="en-US" sz="1200" dirty="0"/>
          </a:p>
          <a:p>
            <a:pPr algn="l" indent="0" marL="0">
              <a:buNone/>
            </a:pPr>
            <a:r>
              <a:rPr lang="en-US" sz="1600" dirty="0">
                <a:solidFill>
                  <a:srgbClr val="222222"/>
                </a:solidFill>
                <a:latin typeface="Courier New" pitchFamily="34" charset="0"/>
                <a:ea typeface="Courier New" pitchFamily="34" charset="-122"/>
                <a:cs typeface="Courier New" pitchFamily="34" charset="-120"/>
              </a:rPr>
              <a:t>f1:        0.895</a:t>
            </a:r>
            <a:endParaRPr lang="en-US" sz="1200" dirty="0"/>
          </a:p>
          <a:p>
            <a:pPr algn="l" indent="0" marL="0">
              <a:buNone/>
            </a:pPr>
            <a:r>
              <a:rPr lang="en-US" sz="1600" dirty="0">
                <a:solidFill>
                  <a:srgbClr val="222222"/>
                </a:solidFill>
                <a:latin typeface="Courier New" pitchFamily="34" charset="0"/>
                <a:ea typeface="Courier New" pitchFamily="34" charset="-122"/>
                <a:cs typeface="Courier New" pitchFamily="34" charset="-120"/>
              </a:rPr>
              <a:t>roc-auc:   0.928</a:t>
            </a:r>
            <a:endParaRPr lang="en-US" sz="1200" dirty="0"/>
          </a:p>
        </p:txBody>
      </p:sp>
      <p:sp>
        <p:nvSpPr>
          <p:cNvPr id="6" name="Text 3"/>
          <p:cNvSpPr/>
          <p:nvPr/>
        </p:nvSpPr>
        <p:spPr>
          <a:xfrm>
            <a:off x="7589520" y="4023360"/>
            <a:ext cx="3931920" cy="1463040"/>
          </a:xfrm>
          <a:prstGeom prst="rect">
            <a:avLst/>
          </a:prstGeom>
          <a:noFill/>
          <a:ln/>
        </p:spPr>
        <p:txBody>
          <a:bodyPr wrap="square" rtlCol="0" anchor="t"/>
          <a:lstStyle/>
          <a:p>
            <a:pPr algn="l" indent="0" marL="0">
              <a:buNone/>
            </a:pPr>
            <a:r>
              <a:rPr lang="en-US" sz="1600" dirty="0">
                <a:solidFill>
                  <a:srgbClr val="222222"/>
                </a:solidFill>
                <a:latin typeface="Calibri" pitchFamily="34" charset="0"/>
                <a:ea typeface="Calibri" pitchFamily="34" charset="-122"/>
                <a:cs typeface="Calibri" pitchFamily="34" charset="-120"/>
              </a:rPr>
              <a:t>Strong, balanced baseline. High precision, good recall. The number the neural nets must beat.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rgbClr val="1F2A44"/>
                </a:solidFill>
                <a:latin typeface="Cambria" pitchFamily="34" charset="0"/>
                <a:ea typeface="Cambria" pitchFamily="34" charset="-122"/>
                <a:cs typeface="Cambria" pitchFamily="34" charset="-120"/>
              </a:rPr>
              <a:t>Model 2: MLP Autoencoder</a:t>
            </a:r>
            <a:endParaRPr lang="en-US" sz="3000" dirty="0"/>
          </a:p>
        </p:txBody>
      </p:sp>
      <p:pic>
        <p:nvPicPr>
          <p:cNvPr id="3" name="Image 0" descr="figs/mlp_loss.png">    </p:cNvPr>
          <p:cNvPicPr>
            <a:picLocks noChangeAspect="1"/>
          </p:cNvPicPr>
          <p:nvPr/>
        </p:nvPicPr>
        <p:blipFill>
          <a:blip r:embed="rId1"/>
          <a:stretch>
            <a:fillRect/>
          </a:stretch>
        </p:blipFill>
        <p:spPr>
          <a:xfrm>
            <a:off x="829361" y="1371600"/>
            <a:ext cx="5107838" cy="2240280"/>
          </a:xfrm>
          <a:prstGeom prst="rect">
            <a:avLst/>
          </a:prstGeom>
        </p:spPr>
      </p:pic>
      <p:pic>
        <p:nvPicPr>
          <p:cNvPr id="4" name="Image 1" descr="figs/mlp_scores.png">    </p:cNvPr>
          <p:cNvPicPr>
            <a:picLocks noChangeAspect="1"/>
          </p:cNvPicPr>
          <p:nvPr/>
        </p:nvPicPr>
        <p:blipFill>
          <a:blip r:embed="rId2"/>
          <a:stretch>
            <a:fillRect/>
          </a:stretch>
        </p:blipFill>
        <p:spPr>
          <a:xfrm>
            <a:off x="1120597" y="3703320"/>
            <a:ext cx="4525366" cy="2240280"/>
          </a:xfrm>
          <a:prstGeom prst="rect">
            <a:avLst/>
          </a:prstGeom>
        </p:spPr>
      </p:pic>
      <p:sp>
        <p:nvSpPr>
          <p:cNvPr id="5" name="Text 1"/>
          <p:cNvSpPr/>
          <p:nvPr/>
        </p:nvSpPr>
        <p:spPr>
          <a:xfrm>
            <a:off x="6492240" y="1463040"/>
            <a:ext cx="5029200" cy="1828800"/>
          </a:xfrm>
          <a:prstGeom prst="rect">
            <a:avLst/>
          </a:prstGeom>
          <a:solidFill>
            <a:srgbClr val="F4F5F7"/>
          </a:solidFill>
          <a:ln/>
        </p:spPr>
        <p:txBody>
          <a:bodyPr wrap="square" lIns="177800" tIns="177800" rIns="177800" bIns="177800" rtlCol="0" anchor="t"/>
          <a:lstStyle/>
          <a:p>
            <a:pPr algn="l" indent="0" marL="0">
              <a:buNone/>
            </a:pPr>
            <a:r>
              <a:rPr lang="en-US" sz="1200" i="1" dirty="0">
                <a:solidFill>
                  <a:srgbClr val="6B7280"/>
                </a:solidFill>
                <a:latin typeface="Calibri" pitchFamily="34" charset="0"/>
                <a:ea typeface="Calibri" pitchFamily="34" charset="-122"/>
                <a:cs typeface="Calibri" pitchFamily="34" charset="-120"/>
              </a:rPr>
              <a:t>output</a:t>
            </a:r>
            <a:endParaRPr lang="en-US" sz="1200" dirty="0"/>
          </a:p>
          <a:p>
            <a:pPr algn="l" indent="0" marL="0">
              <a:buNone/>
            </a:pPr>
            <a:r>
              <a:rPr lang="en-US" sz="1600" dirty="0">
                <a:solidFill>
                  <a:srgbClr val="222222"/>
                </a:solidFill>
                <a:latin typeface="Courier New" pitchFamily="34" charset="0"/>
                <a:ea typeface="Courier New" pitchFamily="34" charset="-122"/>
                <a:cs typeface="Courier New" pitchFamily="34" charset="-120"/>
              </a:rPr>
              <a:t>precision: 0.948</a:t>
            </a:r>
            <a:endParaRPr lang="en-US" sz="1200" dirty="0"/>
          </a:p>
          <a:p>
            <a:pPr algn="l" indent="0" marL="0">
              <a:buNone/>
            </a:pPr>
            <a:r>
              <a:rPr lang="en-US" sz="1600" dirty="0">
                <a:solidFill>
                  <a:srgbClr val="222222"/>
                </a:solidFill>
                <a:latin typeface="Courier New" pitchFamily="34" charset="0"/>
                <a:ea typeface="Courier New" pitchFamily="34" charset="-122"/>
                <a:cs typeface="Courier New" pitchFamily="34" charset="-120"/>
              </a:rPr>
              <a:t>recall:    0.399</a:t>
            </a:r>
            <a:endParaRPr lang="en-US" sz="1200" dirty="0"/>
          </a:p>
          <a:p>
            <a:pPr algn="l" indent="0" marL="0">
              <a:buNone/>
            </a:pPr>
            <a:r>
              <a:rPr lang="en-US" sz="1600" dirty="0">
                <a:solidFill>
                  <a:srgbClr val="222222"/>
                </a:solidFill>
                <a:latin typeface="Courier New" pitchFamily="34" charset="0"/>
                <a:ea typeface="Courier New" pitchFamily="34" charset="-122"/>
                <a:cs typeface="Courier New" pitchFamily="34" charset="-120"/>
              </a:rPr>
              <a:t>f1:        0.561</a:t>
            </a:r>
            <a:endParaRPr lang="en-US" sz="1200" dirty="0"/>
          </a:p>
          <a:p>
            <a:pPr algn="l" indent="0" marL="0">
              <a:buNone/>
            </a:pPr>
            <a:r>
              <a:rPr lang="en-US" sz="1600" dirty="0">
                <a:solidFill>
                  <a:srgbClr val="222222"/>
                </a:solidFill>
                <a:latin typeface="Courier New" pitchFamily="34" charset="0"/>
                <a:ea typeface="Courier New" pitchFamily="34" charset="-122"/>
                <a:cs typeface="Courier New" pitchFamily="34" charset="-120"/>
              </a:rPr>
              <a:t>roc-auc:   0.884</a:t>
            </a:r>
            <a:endParaRPr lang="en-US" sz="1200" dirty="0"/>
          </a:p>
        </p:txBody>
      </p:sp>
      <p:sp>
        <p:nvSpPr>
          <p:cNvPr id="6" name="Text 2"/>
          <p:cNvSpPr/>
          <p:nvPr/>
        </p:nvSpPr>
        <p:spPr>
          <a:xfrm>
            <a:off x="6492240" y="3566160"/>
            <a:ext cx="5029200" cy="2743200"/>
          </a:xfrm>
          <a:prstGeom prst="rect">
            <a:avLst/>
          </a:prstGeom>
          <a:noFill/>
          <a:ln/>
        </p:spPr>
        <p:txBody>
          <a:bodyPr wrap="square" rtlCol="0" anchor="t"/>
          <a:lstStyle/>
          <a:p>
            <a:pPr algn="l" indent="0" marL="0">
              <a:spcAft>
                <a:spcPts val="800"/>
              </a:spcAft>
              <a:buNone/>
            </a:pPr>
            <a:r>
              <a:rPr lang="en-US" sz="1600" b="1" dirty="0">
                <a:solidFill>
                  <a:srgbClr val="C0392B"/>
                </a:solidFill>
                <a:latin typeface="Calibri" pitchFamily="34" charset="0"/>
                <a:ea typeface="Calibri" pitchFamily="34" charset="-122"/>
                <a:cs typeface="Calibri" pitchFamily="34" charset="-120"/>
              </a:rPr>
              <a:t>Recall collapses to 0.40.</a:t>
            </a:r>
            <a:endParaRPr lang="en-US" sz="1600" dirty="0"/>
          </a:p>
          <a:p>
            <a:pPr algn="l" indent="0" marL="0">
              <a:buNone/>
            </a:pPr>
            <a:r>
              <a:rPr lang="en-US" sz="1600" dirty="0">
                <a:solidFill>
                  <a:srgbClr val="222222"/>
                </a:solidFill>
                <a:latin typeface="Calibri" pitchFamily="34" charset="0"/>
                <a:ea typeface="Calibri" pitchFamily="34" charset="-122"/>
                <a:cs typeface="Calibri" pitchFamily="34" charset="-120"/>
              </a:rPr>
              <a:t>Training is healthy, no overfitting. But the model flattens the window and loses the time order. Many occupied windows have average values close to empty ones, so they get low reconstruction error and slip below the threshold.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rgbClr val="1F2A44"/>
                </a:solidFill>
                <a:latin typeface="Cambria" pitchFamily="34" charset="0"/>
                <a:ea typeface="Cambria" pitchFamily="34" charset="-122"/>
                <a:cs typeface="Cambria" pitchFamily="34" charset="-120"/>
              </a:rPr>
              <a:t>Model 3: CNN Autoencoder</a:t>
            </a:r>
            <a:endParaRPr lang="en-US" sz="3000" dirty="0"/>
          </a:p>
        </p:txBody>
      </p:sp>
      <p:pic>
        <p:nvPicPr>
          <p:cNvPr id="3" name="Image 0" descr="figs/cnn_loss.png">    </p:cNvPr>
          <p:cNvPicPr>
            <a:picLocks noChangeAspect="1"/>
          </p:cNvPicPr>
          <p:nvPr/>
        </p:nvPicPr>
        <p:blipFill>
          <a:blip r:embed="rId1"/>
          <a:stretch>
            <a:fillRect/>
          </a:stretch>
        </p:blipFill>
        <p:spPr>
          <a:xfrm>
            <a:off x="829361" y="1371600"/>
            <a:ext cx="5107838" cy="2240280"/>
          </a:xfrm>
          <a:prstGeom prst="rect">
            <a:avLst/>
          </a:prstGeom>
        </p:spPr>
      </p:pic>
      <p:pic>
        <p:nvPicPr>
          <p:cNvPr id="4" name="Image 1" descr="figs/cnn_scores.png">    </p:cNvPr>
          <p:cNvPicPr>
            <a:picLocks noChangeAspect="1"/>
          </p:cNvPicPr>
          <p:nvPr/>
        </p:nvPicPr>
        <p:blipFill>
          <a:blip r:embed="rId2"/>
          <a:stretch>
            <a:fillRect/>
          </a:stretch>
        </p:blipFill>
        <p:spPr>
          <a:xfrm>
            <a:off x="1120597" y="3703320"/>
            <a:ext cx="4525366" cy="2240280"/>
          </a:xfrm>
          <a:prstGeom prst="rect">
            <a:avLst/>
          </a:prstGeom>
        </p:spPr>
      </p:pic>
      <p:sp>
        <p:nvSpPr>
          <p:cNvPr id="5" name="Text 1"/>
          <p:cNvSpPr/>
          <p:nvPr/>
        </p:nvSpPr>
        <p:spPr>
          <a:xfrm>
            <a:off x="6492240" y="1463040"/>
            <a:ext cx="5029200" cy="1828800"/>
          </a:xfrm>
          <a:prstGeom prst="rect">
            <a:avLst/>
          </a:prstGeom>
          <a:solidFill>
            <a:srgbClr val="F4F5F7"/>
          </a:solidFill>
          <a:ln/>
        </p:spPr>
        <p:txBody>
          <a:bodyPr wrap="square" lIns="177800" tIns="177800" rIns="177800" bIns="177800" rtlCol="0" anchor="t"/>
          <a:lstStyle/>
          <a:p>
            <a:pPr algn="l" indent="0" marL="0">
              <a:buNone/>
            </a:pPr>
            <a:r>
              <a:rPr lang="en-US" sz="1200" i="1" dirty="0">
                <a:solidFill>
                  <a:srgbClr val="6B7280"/>
                </a:solidFill>
                <a:latin typeface="Calibri" pitchFamily="34" charset="0"/>
                <a:ea typeface="Calibri" pitchFamily="34" charset="-122"/>
                <a:cs typeface="Calibri" pitchFamily="34" charset="-120"/>
              </a:rPr>
              <a:t>output</a:t>
            </a:r>
            <a:endParaRPr lang="en-US" sz="1200" dirty="0"/>
          </a:p>
          <a:p>
            <a:pPr algn="l" indent="0" marL="0">
              <a:buNone/>
            </a:pPr>
            <a:r>
              <a:rPr lang="en-US" sz="1600" dirty="0">
                <a:solidFill>
                  <a:srgbClr val="222222"/>
                </a:solidFill>
                <a:latin typeface="Courier New" pitchFamily="34" charset="0"/>
                <a:ea typeface="Courier New" pitchFamily="34" charset="-122"/>
                <a:cs typeface="Courier New" pitchFamily="34" charset="-120"/>
              </a:rPr>
              <a:t>precision: 0.858</a:t>
            </a:r>
            <a:endParaRPr lang="en-US" sz="1200" dirty="0"/>
          </a:p>
          <a:p>
            <a:pPr algn="l" indent="0" marL="0">
              <a:buNone/>
            </a:pPr>
            <a:r>
              <a:rPr lang="en-US" sz="1600" dirty="0">
                <a:solidFill>
                  <a:srgbClr val="222222"/>
                </a:solidFill>
                <a:latin typeface="Courier New" pitchFamily="34" charset="0"/>
                <a:ea typeface="Courier New" pitchFamily="34" charset="-122"/>
                <a:cs typeface="Courier New" pitchFamily="34" charset="-120"/>
              </a:rPr>
              <a:t>recall:    0.988</a:t>
            </a:r>
            <a:endParaRPr lang="en-US" sz="1200" dirty="0"/>
          </a:p>
          <a:p>
            <a:pPr algn="l" indent="0" marL="0">
              <a:buNone/>
            </a:pPr>
            <a:r>
              <a:rPr lang="en-US" sz="1600" dirty="0">
                <a:solidFill>
                  <a:srgbClr val="222222"/>
                </a:solidFill>
                <a:latin typeface="Courier New" pitchFamily="34" charset="0"/>
                <a:ea typeface="Courier New" pitchFamily="34" charset="-122"/>
                <a:cs typeface="Courier New" pitchFamily="34" charset="-120"/>
              </a:rPr>
              <a:t>f1:        0.919</a:t>
            </a:r>
            <a:endParaRPr lang="en-US" sz="1200" dirty="0"/>
          </a:p>
          <a:p>
            <a:pPr algn="l" indent="0" marL="0">
              <a:buNone/>
            </a:pPr>
            <a:r>
              <a:rPr lang="en-US" sz="1600" dirty="0">
                <a:solidFill>
                  <a:srgbClr val="222222"/>
                </a:solidFill>
                <a:latin typeface="Courier New" pitchFamily="34" charset="0"/>
                <a:ea typeface="Courier New" pitchFamily="34" charset="-122"/>
                <a:cs typeface="Courier New" pitchFamily="34" charset="-120"/>
              </a:rPr>
              <a:t>roc-auc:   0.707</a:t>
            </a:r>
            <a:endParaRPr lang="en-US" sz="1200" dirty="0"/>
          </a:p>
        </p:txBody>
      </p:sp>
      <p:sp>
        <p:nvSpPr>
          <p:cNvPr id="6" name="Text 2"/>
          <p:cNvSpPr/>
          <p:nvPr/>
        </p:nvSpPr>
        <p:spPr>
          <a:xfrm>
            <a:off x="6492240" y="3566160"/>
            <a:ext cx="5029200" cy="2743200"/>
          </a:xfrm>
          <a:prstGeom prst="rect">
            <a:avLst/>
          </a:prstGeom>
          <a:noFill/>
          <a:ln/>
        </p:spPr>
        <p:txBody>
          <a:bodyPr wrap="square" rtlCol="0" anchor="t"/>
          <a:lstStyle/>
          <a:p>
            <a:pPr algn="l" indent="0" marL="0">
              <a:spcAft>
                <a:spcPts val="800"/>
              </a:spcAft>
              <a:buNone/>
            </a:pPr>
            <a:r>
              <a:rPr lang="en-US" sz="1600" b="1" dirty="0">
                <a:solidFill>
                  <a:srgbClr val="C0392B"/>
                </a:solidFill>
                <a:latin typeface="Calibri" pitchFamily="34" charset="0"/>
                <a:ea typeface="Calibri" pitchFamily="34" charset="-122"/>
                <a:cs typeface="Calibri" pitchFamily="34" charset="-120"/>
              </a:rPr>
              <a:t>Best F1, recall almost 1.</a:t>
            </a:r>
            <a:endParaRPr lang="en-US" sz="1600" dirty="0"/>
          </a:p>
          <a:p>
            <a:pPr algn="l" indent="0" marL="0">
              <a:buNone/>
            </a:pPr>
            <a:r>
              <a:rPr lang="en-US" sz="1600" dirty="0">
                <a:solidFill>
                  <a:srgbClr val="222222"/>
                </a:solidFill>
                <a:latin typeface="Calibri" pitchFamily="34" charset="0"/>
                <a:ea typeface="Calibri" pitchFamily="34" charset="-122"/>
                <a:cs typeface="Calibri" pitchFamily="34" charset="-120"/>
              </a:rPr>
              <a:t>Keeping the sequence lets conv filters read local change. It misses only 13 occupied windows out of 1099. The cost is more false alarms and a lower ROC-AUC, because its scores sit in a narrow band.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rgbClr val="1F2A44"/>
                </a:solidFill>
                <a:latin typeface="Cambria" pitchFamily="34" charset="0"/>
                <a:ea typeface="Cambria" pitchFamily="34" charset="-122"/>
                <a:cs typeface="Cambria" pitchFamily="34" charset="-120"/>
              </a:rPr>
              <a:t>Comparison</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5486400" cy="914400"/>
        </p:xfrm>
        <a:graphic>
          <a:graphicData uri="http://schemas.openxmlformats.org/drawingml/2006/table">
            <a:tbl>
              <a:tblPr/>
              <a:tblGrid>
                <a:gridCol w="2011680"/>
                <a:gridCol w="960120"/>
                <a:gridCol w="868680"/>
                <a:gridCol w="777240"/>
                <a:gridCol w="960120"/>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2A44"/>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Precision</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2A44"/>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Recall</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2A44"/>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F1</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2A44"/>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ROC-AUC</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F2A44"/>
                    </a:solidFill>
                  </a:tcPr>
                </a:tc>
              </a:tr>
              <a:tr h="502920">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Isolation Forest</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0.953</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0.843</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0.895</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500" b="1" dirty="0">
                          <a:solidFill>
                            <a:srgbClr val="C0392B"/>
                          </a:solidFill>
                          <a:latin typeface="Calibri" pitchFamily="34" charset="0"/>
                          <a:ea typeface="Calibri" pitchFamily="34" charset="-122"/>
                          <a:cs typeface="Calibri" pitchFamily="34" charset="-120"/>
                        </a:rPr>
                        <a:t>0.928</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502920">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MLP Autoencoder</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0.948</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0.399</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0.561</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0.884</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502920">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CNN Autoencoder</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0.858</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500" b="1" dirty="0">
                          <a:solidFill>
                            <a:srgbClr val="C0392B"/>
                          </a:solidFill>
                          <a:latin typeface="Calibri" pitchFamily="34" charset="0"/>
                          <a:ea typeface="Calibri" pitchFamily="34" charset="-122"/>
                          <a:cs typeface="Calibri" pitchFamily="34" charset="-120"/>
                        </a:rPr>
                        <a:t>0.988</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500" b="1" dirty="0">
                          <a:solidFill>
                            <a:srgbClr val="C0392B"/>
                          </a:solidFill>
                          <a:latin typeface="Calibri" pitchFamily="34" charset="0"/>
                          <a:ea typeface="Calibri" pitchFamily="34" charset="-122"/>
                          <a:cs typeface="Calibri" pitchFamily="34" charset="-120"/>
                        </a:rPr>
                        <a:t>0.919</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0.707</a:t>
                      </a:r>
                      <a:endParaRPr lang="en-US" sz="15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bl>
          </a:graphicData>
        </a:graphic>
      </p:graphicFrame>
      <p:sp>
        <p:nvSpPr>
          <p:cNvPr id="4" name="Text 1"/>
          <p:cNvSpPr/>
          <p:nvPr/>
        </p:nvSpPr>
        <p:spPr>
          <a:xfrm>
            <a:off x="640080" y="3566160"/>
            <a:ext cx="5486400" cy="1828800"/>
          </a:xfrm>
          <a:prstGeom prst="rect">
            <a:avLst/>
          </a:prstGeom>
          <a:noFill/>
          <a:ln/>
        </p:spPr>
        <p:txBody>
          <a:bodyPr wrap="square" rtlCol="0" anchor="t"/>
          <a:lstStyle/>
          <a:p>
            <a:pPr algn="l" indent="0" marL="0">
              <a:spcAft>
                <a:spcPts val="800"/>
              </a:spcAft>
              <a:buNone/>
            </a:pPr>
            <a:r>
              <a:rPr lang="en-US" sz="1500" dirty="0">
                <a:solidFill>
                  <a:srgbClr val="222222"/>
                </a:solidFill>
                <a:latin typeface="Calibri" pitchFamily="34" charset="0"/>
                <a:ea typeface="Calibri" pitchFamily="34" charset="-122"/>
                <a:cs typeface="Calibri" pitchFamily="34" charset="-120"/>
              </a:rPr>
              <a:t>CNN wins on F1 and recall.  Isolation Forest wins on ROC-AUC.  MLP is weakest.</a:t>
            </a:r>
            <a:endParaRPr lang="en-US" sz="1500" dirty="0"/>
          </a:p>
          <a:p>
            <a:pPr algn="l" indent="0" marL="0">
              <a:buNone/>
            </a:pPr>
            <a:r>
              <a:rPr lang="en-US" sz="1500" i="1" dirty="0">
                <a:solidFill>
                  <a:srgbClr val="6B7280"/>
                </a:solidFill>
                <a:latin typeface="Calibri" pitchFamily="34" charset="0"/>
                <a:ea typeface="Calibri" pitchFamily="34" charset="-122"/>
                <a:cs typeface="Calibri" pitchFamily="34" charset="-120"/>
              </a:rPr>
              <a:t>F1 depends on the chosen threshold. ROC-AUC is threshold independent. They can disagree, and here they do.</a:t>
            </a:r>
            <a:endParaRPr lang="en-US" sz="1500" dirty="0"/>
          </a:p>
        </p:txBody>
      </p:sp>
      <p:pic>
        <p:nvPicPr>
          <p:cNvPr id="5" name="Image 0" descr="figs/roc.png">    </p:cNvPr>
          <p:cNvPicPr>
            <a:picLocks noChangeAspect="1"/>
          </p:cNvPicPr>
          <p:nvPr/>
        </p:nvPicPr>
        <p:blipFill>
          <a:blip r:embed="rId1"/>
          <a:stretch>
            <a:fillRect/>
          </a:stretch>
        </p:blipFill>
        <p:spPr>
          <a:xfrm>
            <a:off x="6400800" y="1941394"/>
            <a:ext cx="5212080" cy="388961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rgbClr val="1F2A44"/>
                </a:solidFill>
                <a:latin typeface="Cambria" pitchFamily="34" charset="0"/>
                <a:ea typeface="Cambria" pitchFamily="34" charset="-122"/>
                <a:cs typeface="Cambria" pitchFamily="34" charset="-120"/>
              </a:rPr>
              <a:t>Why the results look like this</a:t>
            </a:r>
            <a:endParaRPr lang="en-US" sz="3000" dirty="0"/>
          </a:p>
        </p:txBody>
      </p:sp>
      <p:sp>
        <p:nvSpPr>
          <p:cNvPr id="3" name="Text 1"/>
          <p:cNvSpPr/>
          <p:nvPr/>
        </p:nvSpPr>
        <p:spPr>
          <a:xfrm>
            <a:off x="640080" y="1371600"/>
            <a:ext cx="10881360" cy="3657600"/>
          </a:xfrm>
          <a:prstGeom prst="rect">
            <a:avLst/>
          </a:prstGeom>
          <a:noFill/>
          <a:ln/>
        </p:spPr>
        <p:txBody>
          <a:bodyPr wrap="square" rtlCol="0" anchor="ctr"/>
          <a:lstStyle/>
          <a:p>
            <a:pPr algn="l" indent="0" marL="0">
              <a:buNone/>
            </a:pPr>
            <a:r>
              <a:rPr lang="en-US" sz="1800" b="1" dirty="0">
                <a:solidFill>
                  <a:srgbClr val="C0392B"/>
                </a:solidFill>
                <a:latin typeface="Calibri" pitchFamily="34" charset="0"/>
                <a:ea typeface="Calibri" pitchFamily="34" charset="-122"/>
                <a:cs typeface="Calibri" pitchFamily="34" charset="-120"/>
              </a:rPr>
              <a:t>Why the MLP is weak.  </a:t>
            </a:r>
            <a:pPr algn="l" indent="0" marL="0">
              <a:spcAft>
                <a:spcPts val="1200"/>
              </a:spcAft>
              <a:buNone/>
            </a:pPr>
            <a:r>
              <a:rPr lang="en-US" sz="1800" dirty="0">
                <a:solidFill>
                  <a:srgbClr val="222222"/>
                </a:solidFill>
                <a:latin typeface="Calibri" pitchFamily="34" charset="0"/>
                <a:ea typeface="Calibri" pitchFamily="34" charset="-122"/>
                <a:cs typeface="Calibri" pitchFamily="34" charset="-120"/>
              </a:rPr>
              <a:t>Flattening throws away the time order. The model learns the level of each signal but not its shape over 30 minutes, so occupied windows that start out looking calm are reconstructed too well.</a:t>
            </a:r>
            <a:endParaRPr lang="en-US" sz="1800" dirty="0"/>
          </a:p>
          <a:p>
            <a:pPr algn="l" indent="0" marL="0">
              <a:buNone/>
            </a:pPr>
            <a:r>
              <a:rPr lang="en-US" sz="1800" b="1" dirty="0">
                <a:solidFill>
                  <a:srgbClr val="C0392B"/>
                </a:solidFill>
                <a:latin typeface="Calibri" pitchFamily="34" charset="0"/>
                <a:ea typeface="Calibri" pitchFamily="34" charset="-122"/>
                <a:cs typeface="Calibri" pitchFamily="34" charset="-120"/>
              </a:rPr>
              <a:t>Why the CNN helps.  </a:t>
            </a:r>
            <a:pPr algn="l" indent="0" marL="0">
              <a:spcAft>
                <a:spcPts val="1200"/>
              </a:spcAft>
              <a:buNone/>
            </a:pPr>
            <a:r>
              <a:rPr lang="en-US" sz="1800" dirty="0">
                <a:solidFill>
                  <a:srgbClr val="222222"/>
                </a:solidFill>
                <a:latin typeface="Calibri" pitchFamily="34" charset="0"/>
                <a:ea typeface="Calibri" pitchFamily="34" charset="-122"/>
                <a:cs typeface="Calibri" pitchFamily="34" charset="-120"/>
              </a:rPr>
              <a:t>Convolution reads local change, so the model reacts to the dynamics of occupancy. Recall jumps to 0.988. But its scores are squeezed into a narrow range, so ROC-AUC drops.</a:t>
            </a:r>
            <a:endParaRPr lang="en-US" sz="1800" dirty="0"/>
          </a:p>
          <a:p>
            <a:pPr algn="l" indent="0" marL="0">
              <a:buNone/>
            </a:pPr>
            <a:r>
              <a:rPr lang="en-US" sz="1800" b="1" dirty="0">
                <a:solidFill>
                  <a:srgbClr val="C0392B"/>
                </a:solidFill>
                <a:latin typeface="Calibri" pitchFamily="34" charset="0"/>
                <a:ea typeface="Calibri" pitchFamily="34" charset="-122"/>
                <a:cs typeface="Calibri" pitchFamily="34" charset="-120"/>
              </a:rPr>
              <a:t>Why the baseline stays strong.  </a:t>
            </a:r>
            <a:pPr algn="l" indent="0" marL="0">
              <a:buNone/>
            </a:pPr>
            <a:r>
              <a:rPr lang="en-US" sz="1800" dirty="0">
                <a:solidFill>
                  <a:srgbClr val="222222"/>
                </a:solidFill>
                <a:latin typeface="Calibri" pitchFamily="34" charset="0"/>
                <a:ea typeface="Calibri" pitchFamily="34" charset="-122"/>
                <a:cs typeface="Calibri" pitchFamily="34" charset="-120"/>
              </a:rPr>
              <a:t>Ten simple features already capture most of what separates occupied from empty. A simple, well-chosen representation can match a neural network on a problem this size.</a:t>
            </a:r>
            <a:endParaRPr lang="en-US" sz="1800" dirty="0"/>
          </a:p>
        </p:txBody>
      </p:sp>
      <p:sp>
        <p:nvSpPr>
          <p:cNvPr id="4" name="Text 2"/>
          <p:cNvSpPr/>
          <p:nvPr/>
        </p:nvSpPr>
        <p:spPr>
          <a:xfrm>
            <a:off x="640080" y="5212080"/>
            <a:ext cx="10881360" cy="1097280"/>
          </a:xfrm>
          <a:prstGeom prst="rect">
            <a:avLst/>
          </a:prstGeom>
          <a:solidFill>
            <a:srgbClr val="F4F5F7"/>
          </a:solidFill>
          <a:ln/>
        </p:spPr>
        <p:txBody>
          <a:bodyPr wrap="square" lIns="177800" tIns="177800" rIns="177800" bIns="177800" rtlCol="0" anchor="ctr"/>
          <a:lstStyle/>
          <a:p>
            <a:pPr algn="l" indent="0" marL="0">
              <a:buNone/>
            </a:pPr>
            <a:r>
              <a:rPr lang="en-US" sz="1700" b="1" i="1" dirty="0">
                <a:solidFill>
                  <a:srgbClr val="1F2A44"/>
                </a:solidFill>
                <a:latin typeface="Calibri" pitchFamily="34" charset="0"/>
                <a:ea typeface="Calibri" pitchFamily="34" charset="-122"/>
                <a:cs typeface="Calibri" pitchFamily="34" charset="-120"/>
              </a:rPr>
              <a:t>Practical takeaway.  </a:t>
            </a:r>
            <a:pPr algn="l" indent="0" marL="0">
              <a:buNone/>
            </a:pPr>
            <a:r>
              <a:rPr lang="en-US" sz="1700" i="1" dirty="0">
                <a:solidFill>
                  <a:srgbClr val="1F2A44"/>
                </a:solidFill>
                <a:latin typeface="Calibri" pitchFamily="34" charset="0"/>
                <a:ea typeface="Calibri" pitchFamily="34" charset="-122"/>
                <a:cs typeface="Calibri" pitchFamily="34" charset="-120"/>
              </a:rPr>
              <a:t>If missing a person is costly (security), pick the CNN for high recall. If false alarms are costly (energy management), pick the Isolation Forest.</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2A44"/>
        </a:solidFill>
      </p:bgPr>
    </p:bg>
    <p:spTree>
      <p:nvGrpSpPr>
        <p:cNvPr id="1" name=""/>
        <p:cNvGrpSpPr/>
        <p:nvPr/>
      </p:nvGrpSpPr>
      <p:grpSpPr>
        <a:xfrm>
          <a:off x="0" y="0"/>
          <a:ext cx="0" cy="0"/>
          <a:chOff x="0" y="0"/>
          <a:chExt cx="0" cy="0"/>
        </a:xfrm>
      </p:grpSpPr>
      <p:sp>
        <p:nvSpPr>
          <p:cNvPr id="2" name="Text 0"/>
          <p:cNvSpPr/>
          <p:nvPr/>
        </p:nvSpPr>
        <p:spPr>
          <a:xfrm>
            <a:off x="822960" y="822960"/>
            <a:ext cx="1051560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Text 1"/>
          <p:cNvSpPr/>
          <p:nvPr/>
        </p:nvSpPr>
        <p:spPr>
          <a:xfrm>
            <a:off x="822960" y="1920240"/>
            <a:ext cx="10515600" cy="2743200"/>
          </a:xfrm>
          <a:prstGeom prst="rect">
            <a:avLst/>
          </a:prstGeom>
          <a:noFill/>
          <a:ln/>
        </p:spPr>
        <p:txBody>
          <a:bodyPr wrap="square" rtlCol="0" anchor="ctr"/>
          <a:lstStyle/>
          <a:p>
            <a:pPr algn="l" marL="342900" indent="-342900">
              <a:spcAft>
                <a:spcPts val="1200"/>
              </a:spcAft>
              <a:buSzPct val="100000"/>
              <a:buChar char="•"/>
            </a:pPr>
            <a:r>
              <a:rPr lang="en-US" sz="1900" dirty="0">
                <a:solidFill>
                  <a:srgbClr val="E8ECF6"/>
                </a:solidFill>
                <a:latin typeface="Calibri" pitchFamily="34" charset="0"/>
                <a:ea typeface="Calibri" pitchFamily="34" charset="-122"/>
                <a:cs typeface="Calibri" pitchFamily="34" charset="-120"/>
              </a:rPr>
              <a:t>Presence detection works as an unsupervised, one-class problem. No occupied labels needed in training.</a:t>
            </a:r>
            <a:endParaRPr lang="en-US" sz="1900" dirty="0"/>
          </a:p>
          <a:p>
            <a:pPr algn="l" marL="342900" indent="-342900">
              <a:spcAft>
                <a:spcPts val="1200"/>
              </a:spcAft>
              <a:buSzPct val="100000"/>
              <a:buChar char="•"/>
            </a:pPr>
            <a:r>
              <a:rPr lang="en-US" sz="1900" dirty="0">
                <a:solidFill>
                  <a:srgbClr val="E8ECF6"/>
                </a:solidFill>
                <a:latin typeface="Calibri" pitchFamily="34" charset="0"/>
                <a:ea typeface="Calibri" pitchFamily="34" charset="-122"/>
                <a:cs typeface="Calibri" pitchFamily="34" charset="-120"/>
              </a:rPr>
              <a:t>Reading the time order matters. The CNN gets the best F1 (0.919) and recall (0.988).</a:t>
            </a:r>
            <a:endParaRPr lang="en-US" sz="1900" dirty="0"/>
          </a:p>
          <a:p>
            <a:pPr algn="l" marL="342900" indent="-342900">
              <a:spcAft>
                <a:spcPts val="1200"/>
              </a:spcAft>
              <a:buSzPct val="100000"/>
              <a:buChar char="•"/>
            </a:pPr>
            <a:r>
              <a:rPr lang="en-US" sz="1900" dirty="0">
                <a:solidFill>
                  <a:srgbClr val="E8ECF6"/>
                </a:solidFill>
                <a:latin typeface="Calibri" pitchFamily="34" charset="0"/>
                <a:ea typeface="Calibri" pitchFamily="34" charset="-122"/>
                <a:cs typeface="Calibri" pitchFamily="34" charset="-120"/>
              </a:rPr>
              <a:t>A simple classical baseline stays competitive and is better calibrated (ROC-AUC 0.928).</a:t>
            </a:r>
            <a:endParaRPr lang="en-US" sz="1900" dirty="0"/>
          </a:p>
          <a:p>
            <a:pPr algn="l" marL="342900" indent="-342900">
              <a:buSzPct val="100000"/>
              <a:buChar char="•"/>
            </a:pPr>
            <a:r>
              <a:rPr lang="en-US" sz="1900" dirty="0">
                <a:solidFill>
                  <a:srgbClr val="E8ECF6"/>
                </a:solidFill>
                <a:latin typeface="Calibri" pitchFamily="34" charset="0"/>
                <a:ea typeface="Calibri" pitchFamily="34" charset="-122"/>
                <a:cs typeface="Calibri" pitchFamily="34" charset="-120"/>
              </a:rPr>
              <a:t>No single model wins on every metric. The right choice depends on the cost of each error.</a:t>
            </a:r>
            <a:endParaRPr lang="en-US" sz="1900" dirty="0"/>
          </a:p>
        </p:txBody>
      </p:sp>
      <p:sp>
        <p:nvSpPr>
          <p:cNvPr id="4" name="Text 2"/>
          <p:cNvSpPr/>
          <p:nvPr/>
        </p:nvSpPr>
        <p:spPr>
          <a:xfrm>
            <a:off x="822960" y="5029200"/>
            <a:ext cx="10515600" cy="1097280"/>
          </a:xfrm>
          <a:prstGeom prst="rect">
            <a:avLst/>
          </a:prstGeom>
          <a:noFill/>
          <a:ln/>
        </p:spPr>
        <p:txBody>
          <a:bodyPr wrap="square" lIns="0" tIns="0" rIns="0" bIns="0" rtlCol="0" anchor="ctr"/>
          <a:lstStyle/>
          <a:p>
            <a:pPr algn="l" indent="0" marL="0">
              <a:buNone/>
            </a:pPr>
            <a:r>
              <a:rPr lang="en-US" sz="1600" b="1" i="1" dirty="0">
                <a:solidFill>
                  <a:srgbClr val="CADCFC"/>
                </a:solidFill>
                <a:latin typeface="Calibri" pitchFamily="34" charset="0"/>
                <a:ea typeface="Calibri" pitchFamily="34" charset="-122"/>
                <a:cs typeface="Calibri" pitchFamily="34" charset="-120"/>
              </a:rPr>
              <a:t>Future work.  </a:t>
            </a:r>
            <a:pPr algn="l" indent="0" marL="0">
              <a:buNone/>
            </a:pPr>
            <a:r>
              <a:rPr lang="en-US" sz="1600" i="1" dirty="0">
                <a:solidFill>
                  <a:srgbClr val="AAB4CC"/>
                </a:solidFill>
                <a:latin typeface="Calibri" pitchFamily="34" charset="0"/>
                <a:ea typeface="Calibri" pitchFamily="34" charset="-122"/>
                <a:cs typeface="Calibri" pitchFamily="34" charset="-120"/>
              </a:rPr>
              <a:t>Add a Transformer encoder. Test across different rooms. Try an adaptive threshold. Add the weaker signals and see if they help.</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2560320"/>
            <a:ext cx="10515600" cy="914400"/>
          </a:xfrm>
          <a:prstGeom prst="rect">
            <a:avLst/>
          </a:prstGeom>
          <a:noFill/>
          <a:ln/>
        </p:spPr>
        <p:txBody>
          <a:bodyPr wrap="square" lIns="0" tIns="0" rIns="0" bIns="0" rtlCol="0" anchor="ctr"/>
          <a:lstStyle/>
          <a:p>
            <a:pPr algn="l" indent="0" marL="0">
              <a:buNone/>
            </a:pPr>
            <a:r>
              <a:rPr lang="en-US" sz="4000" b="1" dirty="0">
                <a:solidFill>
                  <a:srgbClr val="1F2A44"/>
                </a:solidFill>
                <a:latin typeface="Cambria" pitchFamily="34" charset="0"/>
                <a:ea typeface="Cambria" pitchFamily="34" charset="-122"/>
                <a:cs typeface="Cambria" pitchFamily="34" charset="-120"/>
              </a:rPr>
              <a:t>Thank you</a:t>
            </a:r>
            <a:endParaRPr lang="en-US" sz="4000" dirty="0"/>
          </a:p>
        </p:txBody>
      </p:sp>
      <p:sp>
        <p:nvSpPr>
          <p:cNvPr id="3" name="Text 1"/>
          <p:cNvSpPr/>
          <p:nvPr/>
        </p:nvSpPr>
        <p:spPr>
          <a:xfrm>
            <a:off x="822960" y="3566160"/>
            <a:ext cx="10515600" cy="914400"/>
          </a:xfrm>
          <a:prstGeom prst="rect">
            <a:avLst/>
          </a:prstGeom>
          <a:noFill/>
          <a:ln/>
        </p:spPr>
        <p:txBody>
          <a:bodyPr wrap="square" lIns="0" tIns="0" rIns="0" bIns="0" rtlCol="0" anchor="ctr"/>
          <a:lstStyle/>
          <a:p>
            <a:pPr algn="l" indent="0" marL="0">
              <a:buNone/>
            </a:pPr>
            <a:r>
              <a:rPr lang="en-US" sz="1800" b="1" dirty="0">
                <a:solidFill>
                  <a:srgbClr val="222222"/>
                </a:solidFill>
                <a:latin typeface="Calibri" pitchFamily="34" charset="0"/>
                <a:ea typeface="Calibri" pitchFamily="34" charset="-122"/>
                <a:cs typeface="Calibri" pitchFamily="34" charset="-120"/>
              </a:rPr>
              <a:t>Nur Bakhavadinovich Taabaldiev</a:t>
            </a:r>
            <a:endParaRPr lang="en-US" sz="1800" dirty="0"/>
          </a:p>
          <a:p>
            <a:pPr algn="l" indent="0" marL="0">
              <a:buNone/>
            </a:pPr>
            <a:r>
              <a:rPr lang="en-US" sz="1800" dirty="0">
                <a:solidFill>
                  <a:srgbClr val="C0392B"/>
                </a:solidFill>
                <a:latin typeface="Calibri" pitchFamily="34" charset="0"/>
                <a:ea typeface="Calibri" pitchFamily="34" charset="-122"/>
                <a:cs typeface="Calibri" pitchFamily="34" charset="-120"/>
              </a:rPr>
              <a:t>github.com/Nur2424/wifi-presence-detection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Unsupervised Human Presence Detection</dc:title>
  <dc:subject>PptxGenJS Presentation</dc:subject>
  <dc:creator>Nur Bakhavadinovich Taabaldiev</dc:creator>
  <cp:lastModifiedBy>Nur Bakhavadinovich Taabaldiev</cp:lastModifiedBy>
  <cp:revision>1</cp:revision>
  <dcterms:created xsi:type="dcterms:W3CDTF">2026-06-30T20:21:23Z</dcterms:created>
  <dcterms:modified xsi:type="dcterms:W3CDTF">2026-06-30T20:21:23Z</dcterms:modified>
</cp:coreProperties>
</file>